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3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Project Proposal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Isatou_Jabang_22314162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750"/>
          </a:xfrm>
        </p:spPr>
        <p:txBody>
          <a:bodyPr/>
          <a:p>
            <a:r>
              <a:rPr lang="en-US" altLang="en-US">
                <a:sym typeface="+mn-ea"/>
              </a:rPr>
              <a:t>Which option am I pursuing?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3510"/>
            <a:ext cx="10515600" cy="4763770"/>
          </a:xfrm>
        </p:spPr>
        <p:txBody>
          <a:bodyPr>
            <a:normAutofit fontScale="90000" lnSpcReduction="10000"/>
          </a:bodyPr>
          <a:p>
            <a:r>
              <a:rPr lang="en-US" altLang="en-US"/>
              <a:t>Option B: Building a Real-World AI Application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A real-world problem: The persistent increase in the general price level of goods and services in The Gambia over a particular period of time. This is an economic term called </a:t>
            </a:r>
            <a:r>
              <a:rPr lang="en-US" altLang="en-US" b="1"/>
              <a:t>Inflation</a:t>
            </a:r>
            <a:r>
              <a:rPr lang="en-US" altLang="en-US"/>
              <a:t>. 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Importance of Inflation: Inflation isn't inherently good or bad; it is an economic vital sign. It keeps the economy running smoothly. Too much inflation overheats the economy, while negative inflation (deflation) freezes it entirely.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marL="457200" lvl="2" indent="0">
              <a:buNone/>
            </a:pPr>
            <a:r>
              <a:rPr lang="en-US" altLang="en-US" sz="2400">
                <a:sym typeface="+mn-ea"/>
              </a:rPr>
              <a:t>Goal :  Predict future inflation in The Gambia using economic indicators.</a:t>
            </a:r>
            <a:endParaRPr lang="en-US" altLang="en-US" sz="2400"/>
          </a:p>
          <a:p>
            <a:pPr marL="1371600" lvl="3" indent="0">
              <a:buNone/>
            </a:pP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Dataset/Variables : Food CPI, energy prices, exchange rates. 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Key Source : GBOS + IMF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86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Project 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835"/>
            <a:ext cx="10515600" cy="4703445"/>
          </a:xfrm>
        </p:spPr>
        <p:txBody>
          <a:bodyPr>
            <a:normAutofit fontScale="90000" lnSpcReduction="10000"/>
          </a:bodyPr>
          <a:p>
            <a:pPr marL="0" lvl="1" indent="0" algn="l">
              <a:buNone/>
            </a:pPr>
            <a:r>
              <a:rPr lang="en-US" sz="2800"/>
              <a:t>The a</a:t>
            </a:r>
            <a:r>
              <a:rPr lang="en-US" altLang="en-US" sz="2800">
                <a:sym typeface="+mn-ea"/>
              </a:rPr>
              <a:t>dvancements in big data and artificial intelligence algorithms have introduced new tools and methods for macroeconomic forecasting and policy regulation </a:t>
            </a:r>
            <a:r>
              <a:rPr lang="en-US" altLang="en-US" sz="2800"/>
              <a:t>(Yang et al., 2024)</a:t>
            </a:r>
            <a:endParaRPr lang="en-US" altLang="en-US" sz="2800"/>
          </a:p>
          <a:p>
            <a:pPr marL="342900" lvl="1" indent="-342900" algn="l"/>
            <a:r>
              <a:rPr lang="en-US" altLang="en-US" sz="2800"/>
              <a:t>In Macroeconomics, </a:t>
            </a:r>
            <a:r>
              <a:rPr lang="en-US" altLang="en-US" sz="2800" b="1"/>
              <a:t>Inflation </a:t>
            </a:r>
            <a:r>
              <a:rPr lang="en-US" altLang="en-US" sz="2800"/>
              <a:t>is analyzed as an economy-wide phenomenon where the overall price level increases, directly reducing the value of money across the entire country. It is a </a:t>
            </a:r>
            <a:r>
              <a:rPr lang="en-US" altLang="en-US" sz="2800">
                <a:sym typeface="+mn-ea"/>
              </a:rPr>
              <a:t>key driver in</a:t>
            </a:r>
            <a:r>
              <a:rPr lang="en-US" altLang="en-US" sz="2800">
                <a:sym typeface="+mn-ea"/>
              </a:rPr>
              <a:t> shaping interest rates and borrowing, driving consumer spending, impacting the cost of living and preventing deflation. </a:t>
            </a:r>
            <a:endParaRPr lang="en-US" altLang="en-US" sz="2800"/>
          </a:p>
          <a:p>
            <a:pPr marL="0" lvl="1" indent="0" algn="l">
              <a:buNone/>
            </a:pPr>
            <a:r>
              <a:rPr lang="en-US" sz="2800"/>
              <a:t>This paper will focus on employing machine learning models in predicting future </a:t>
            </a:r>
            <a:r>
              <a:rPr lang="en-US" altLang="en-US" sz="2800">
                <a:sym typeface="+mn-ea"/>
              </a:rPr>
              <a:t>inflation in The Gambia using economic indicators.</a:t>
            </a:r>
            <a:endParaRPr lang="en-US" altLang="en-US" sz="2800">
              <a:sym typeface="+mn-ea"/>
            </a:endParaRPr>
          </a:p>
          <a:p>
            <a:pPr marL="0" lvl="1" indent="0" algn="l">
              <a:buNone/>
            </a:pPr>
            <a:r>
              <a:rPr lang="en-US" altLang="en-US" sz="2800">
                <a:sym typeface="+mn-ea"/>
              </a:rPr>
              <a:t>The goal is to make sure the AI model accurately predicts future inflation in The Gambia.  </a:t>
            </a:r>
            <a:endParaRPr lang="en-US" altLang="en-US" sz="2800">
              <a:sym typeface="+mn-ea"/>
            </a:endParaRPr>
          </a:p>
          <a:p>
            <a:pPr marL="0" lvl="1" indent="0" algn="l">
              <a:buNone/>
            </a:pPr>
            <a:r>
              <a:rPr lang="en-US" altLang="en-US" sz="2800"/>
              <a:t>Possible project title, "</a:t>
            </a:r>
            <a:r>
              <a:rPr lang="en-US" altLang="en-US" sz="2800">
                <a:sym typeface="+mn-ea"/>
              </a:rPr>
              <a:t>Machine Learning-Based Inflation Forecasting</a:t>
            </a:r>
            <a:r>
              <a:rPr lang="en-US" altLang="en-US" sz="2800"/>
              <a:t>"</a:t>
            </a:r>
            <a:endParaRPr lang="en-US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13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Project plan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403350"/>
            <a:ext cx="5181600" cy="477393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"/>
            </a:pPr>
            <a:r>
              <a:rPr lang="en-US" altLang="en-US" sz="1600">
                <a:sym typeface="+mn-ea"/>
              </a:rPr>
              <a:t>Collect the Dataset From: </a:t>
            </a:r>
            <a:endParaRPr lang="en-US" altLang="en-US" sz="1600"/>
          </a:p>
          <a:p>
            <a:pPr lvl="0"/>
            <a:r>
              <a:rPr lang="en-US" altLang="en-US" sz="1595">
                <a:sym typeface="+mn-ea"/>
              </a:rPr>
              <a:t> Gambia Bureau of Statistics</a:t>
            </a:r>
            <a:endParaRPr lang="en-US" altLang="en-US" sz="1595">
              <a:sym typeface="+mn-ea"/>
            </a:endParaRPr>
          </a:p>
          <a:p>
            <a:pPr lvl="1"/>
            <a:r>
              <a:rPr lang="en-US" altLang="en-US" sz="1395"/>
              <a:t>Food CPI </a:t>
            </a:r>
            <a:endParaRPr lang="en-US" altLang="en-US" sz="1395"/>
          </a:p>
          <a:p>
            <a:pPr lvl="1"/>
            <a:r>
              <a:rPr lang="en-US" altLang="en-US" sz="1395"/>
              <a:t>Transport CPI </a:t>
            </a:r>
            <a:endParaRPr lang="en-US" altLang="en-US" sz="1395"/>
          </a:p>
          <a:p>
            <a:pPr lvl="1"/>
            <a:r>
              <a:rPr lang="en-US" altLang="en-US" sz="1395"/>
              <a:t>Energy CPI </a:t>
            </a:r>
            <a:endParaRPr lang="en-US" altLang="en-US" sz="1395"/>
          </a:p>
          <a:p>
            <a:pPr lvl="1"/>
            <a:r>
              <a:rPr lang="en-US" altLang="en-US" sz="1395"/>
              <a:t>Housing CPI </a:t>
            </a:r>
            <a:endParaRPr lang="en-US" altLang="en-US" sz="1395"/>
          </a:p>
          <a:p>
            <a:pPr lvl="0"/>
            <a:r>
              <a:rPr lang="en-US" altLang="en-US" sz="1595">
                <a:sym typeface="+mn-ea"/>
              </a:rPr>
              <a:t>International Monetary Fund</a:t>
            </a:r>
            <a:endParaRPr lang="en-US" altLang="en-US" sz="1595">
              <a:sym typeface="+mn-ea"/>
            </a:endParaRPr>
          </a:p>
          <a:p>
            <a:pPr lvl="1"/>
            <a:r>
              <a:rPr lang="en-US" altLang="en-US" sz="1395"/>
              <a:t>Global Commodity Prices</a:t>
            </a:r>
            <a:endParaRPr lang="en-US" altLang="en-US" sz="1395">
              <a:sym typeface="+mn-ea"/>
            </a:endParaRPr>
          </a:p>
          <a:p>
            <a:pPr lvl="1"/>
            <a:r>
              <a:rPr lang="en-US" altLang="en-US" sz="1395"/>
              <a:t>Exchange rates </a:t>
            </a:r>
            <a:endParaRPr lang="en-US" altLang="en-US" sz="1395"/>
          </a:p>
          <a:p>
            <a:pPr lvl="1"/>
            <a:r>
              <a:rPr lang="en-US" altLang="en-US" sz="1395"/>
              <a:t>Global inflation data </a:t>
            </a:r>
            <a:endParaRPr lang="en-US" altLang="en-US" sz="1395"/>
          </a:p>
          <a:p>
            <a:pPr lvl="1"/>
            <a:r>
              <a:rPr lang="en-US" altLang="en-US" sz="1395"/>
              <a:t>Oil prices </a:t>
            </a:r>
            <a:endParaRPr lang="en-US" altLang="en-US" sz="1395"/>
          </a:p>
          <a:p>
            <a:pPr lvl="0"/>
            <a:r>
              <a:rPr lang="en-US" altLang="en-US" sz="1595">
                <a:sym typeface="+mn-ea"/>
              </a:rPr>
              <a:t>Other sources</a:t>
            </a:r>
            <a:endParaRPr lang="en-US" altLang="en-US" sz="1595"/>
          </a:p>
          <a:p>
            <a:pPr lvl="1"/>
            <a:r>
              <a:rPr lang="en-US" altLang="en-US" sz="1595">
                <a:sym typeface="+mn-ea"/>
              </a:rPr>
              <a:t>World Bank </a:t>
            </a:r>
            <a:endParaRPr lang="en-US" altLang="en-US" sz="1595"/>
          </a:p>
          <a:p>
            <a:pPr lvl="1"/>
            <a:r>
              <a:rPr lang="en-US" altLang="en-US" sz="1595">
                <a:sym typeface="+mn-ea"/>
              </a:rPr>
              <a:t>FRED </a:t>
            </a:r>
            <a:endParaRPr lang="en-US" altLang="en-US" sz="1595"/>
          </a:p>
          <a:p>
            <a:pPr lvl="1"/>
            <a:r>
              <a:rPr lang="en-US" altLang="en-US" sz="1595">
                <a:sym typeface="+mn-ea"/>
              </a:rPr>
              <a:t>African Development Bank </a:t>
            </a:r>
            <a:endParaRPr lang="en-US" altLang="en-US" sz="1595"/>
          </a:p>
          <a:p>
            <a:pPr lvl="0" algn="l">
              <a:buFont typeface="Wingdings" panose="05000000000000000000" charset="0"/>
              <a:buChar char=""/>
            </a:pPr>
            <a:r>
              <a:rPr lang="en-US" altLang="en-US" sz="1600">
                <a:sym typeface="+mn-ea"/>
              </a:rPr>
              <a:t>Structure the Dataset</a:t>
            </a:r>
            <a:endParaRPr lang="en-US" altLang="en-US" sz="1600">
              <a:sym typeface="+mn-ea"/>
            </a:endParaRPr>
          </a:p>
          <a:p>
            <a:pPr marL="0" indent="0">
              <a:buNone/>
            </a:pPr>
            <a:endParaRPr lang="en-US" altLang="en-US" sz="16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278890"/>
            <a:ext cx="5181600" cy="4898390"/>
          </a:xfrm>
        </p:spPr>
        <p:txBody>
          <a:bodyPr/>
          <a:p>
            <a:pPr lvl="0" algn="l"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Prepare the Data i.e Handle Missing Values</a:t>
            </a:r>
            <a:endParaRPr lang="en-US" altLang="en-US" sz="1400">
              <a:sym typeface="+mn-ea"/>
            </a:endParaRPr>
          </a:p>
          <a:p>
            <a:pPr lvl="0" algn="l"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Convert Variables</a:t>
            </a:r>
            <a:endParaRPr lang="en-US" altLang="en-US" sz="1400">
              <a:sym typeface="+mn-ea"/>
            </a:endParaRPr>
          </a:p>
          <a:p>
            <a:pPr lvl="0" algn="l"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Choose an AI / Machine Learning Model</a:t>
            </a:r>
            <a:endParaRPr lang="en-US" altLang="en-US" sz="1400">
              <a:sym typeface="+mn-ea"/>
            </a:endParaRPr>
          </a:p>
          <a:p>
            <a:pPr lvl="1" algn="l">
              <a:buFont typeface="Arial" panose="020B0604020202090204" pitchFamily="34" charset="0"/>
              <a:buChar char="•"/>
            </a:pPr>
            <a:r>
              <a:rPr lang="en-US" altLang="en-US" sz="1200">
                <a:sym typeface="+mn-ea"/>
              </a:rPr>
              <a:t>Random Forest</a:t>
            </a:r>
            <a:endParaRPr lang="en-US" altLang="en-US" sz="1200">
              <a:sym typeface="+mn-ea"/>
            </a:endParaRPr>
          </a:p>
          <a:p>
            <a:pPr lvl="1" algn="l">
              <a:buFont typeface="Arial" panose="020B0604020202090204" pitchFamily="34" charset="0"/>
              <a:buChar char="•"/>
            </a:pPr>
            <a:r>
              <a:rPr lang="en-US" altLang="en-US" sz="1200">
                <a:sym typeface="+mn-ea"/>
              </a:rPr>
              <a:t>XGBoost</a:t>
            </a:r>
            <a:endParaRPr lang="en-US" altLang="en-US" sz="1200">
              <a:sym typeface="+mn-ea"/>
            </a:endParaRPr>
          </a:p>
          <a:p>
            <a:pPr lvl="1" algn="l">
              <a:buFont typeface="Arial" panose="020B0604020202090204" pitchFamily="34" charset="0"/>
              <a:buChar char="•"/>
            </a:pPr>
            <a:r>
              <a:rPr lang="en-US" altLang="en-US" sz="1200">
                <a:sym typeface="+mn-ea"/>
              </a:rPr>
              <a:t>LSTM Neural Network</a:t>
            </a:r>
            <a:endParaRPr lang="en-US" altLang="en-US" sz="1200">
              <a:sym typeface="+mn-ea"/>
            </a:endParaRPr>
          </a:p>
          <a:p>
            <a:pPr lvl="0" algn="l"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Train the Model</a:t>
            </a:r>
            <a:endParaRPr lang="en-US" altLang="en-US" sz="1400">
              <a:sym typeface="+mn-ea"/>
            </a:endParaRPr>
          </a:p>
          <a:p>
            <a:pPr lvl="0" algn="l"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Evaluate Accuracy</a:t>
            </a:r>
            <a:endParaRPr lang="en-US" altLang="en-US" sz="1400">
              <a:sym typeface="+mn-ea"/>
            </a:endParaRPr>
          </a:p>
          <a:p>
            <a:pPr lvl="0" algn="l"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Make the System Intelligent, this is where it becomes a real AI system.</a:t>
            </a:r>
            <a:endParaRPr lang="en-US" altLang="en-US" sz="1400">
              <a:sym typeface="+mn-ea"/>
            </a:endParaRPr>
          </a:p>
          <a:p>
            <a:pPr>
              <a:buFont typeface="Wingdings" panose="05000000000000000000" charset="0"/>
              <a:buChar char=""/>
            </a:pPr>
            <a:r>
              <a:rPr lang="en-US" altLang="en-US" sz="1400">
                <a:sym typeface="+mn-ea"/>
              </a:rPr>
              <a:t>Suggested Tech Stack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Python 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Libraries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pandas 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numpy matplotlib 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scikit-learn 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Machine learning models</a:t>
            </a:r>
            <a:endParaRPr lang="en-US" altLang="en-US" sz="1400">
              <a:sym typeface="+mn-ea"/>
            </a:endParaRPr>
          </a:p>
          <a:p>
            <a:pPr lvl="0" algn="l">
              <a:buFont typeface="Wingdings" panose="05000000000000000000" charset="0"/>
              <a:buChar char=""/>
            </a:pPr>
            <a:endParaRPr lang="en-US" altLang="en-US" sz="1200">
              <a:sym typeface="+mn-ea"/>
            </a:endParaRPr>
          </a:p>
          <a:p>
            <a:pPr marL="0" lvl="0" indent="0" algn="l">
              <a:buFont typeface="Wingdings" panose="05000000000000000000" charset="0"/>
              <a:buNone/>
            </a:pPr>
            <a:endParaRPr lang="en-US" altLang="en-US" sz="1200"/>
          </a:p>
          <a:p>
            <a:endParaRPr lang="en-US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Example Workflow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Step 1 - Collect monthly data</a:t>
            </a:r>
            <a:endParaRPr lang="en-US" altLang="en-US"/>
          </a:p>
          <a:p>
            <a:r>
              <a:rPr lang="en-US" altLang="en-US">
                <a:sym typeface="+mn-ea"/>
              </a:rPr>
              <a:t>Step 2 -Clean and transform data</a:t>
            </a:r>
            <a:endParaRPr lang="en-US" altLang="en-US"/>
          </a:p>
          <a:p>
            <a:r>
              <a:rPr lang="en-US" altLang="en-US">
                <a:sym typeface="+mn-ea"/>
              </a:rPr>
              <a:t>Step 3 - Create lag features</a:t>
            </a:r>
            <a:endParaRPr lang="en-US" altLang="en-US"/>
          </a:p>
          <a:p>
            <a:r>
              <a:rPr lang="en-US" altLang="en-US">
                <a:sym typeface="+mn-ea"/>
              </a:rPr>
              <a:t>Step 4 - Train machine learning model</a:t>
            </a:r>
            <a:endParaRPr lang="en-US" altLang="en-US"/>
          </a:p>
          <a:p>
            <a:r>
              <a:rPr lang="en-US" altLang="en-US">
                <a:sym typeface="+mn-ea"/>
              </a:rPr>
              <a:t>Step 5 - Evaluate forecasting accuracy</a:t>
            </a:r>
            <a:endParaRPr lang="en-US" altLang="en-US"/>
          </a:p>
          <a:p>
            <a:r>
              <a:rPr lang="en-US" altLang="en-US">
                <a:sym typeface="+mn-ea"/>
              </a:rPr>
              <a:t>Step 6 - Deploy dashboard</a:t>
            </a:r>
            <a:endParaRPr lang="en-US" alt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2316</Words>
  <Application>WPS Writer</Application>
  <PresentationFormat>Widescreen</PresentationFormat>
  <Paragraphs>76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aisha</dc:creator>
  <cp:lastModifiedBy>aisha</cp:lastModifiedBy>
  <cp:revision>14</cp:revision>
  <dcterms:created xsi:type="dcterms:W3CDTF">2026-05-26T18:39:50Z</dcterms:created>
  <dcterms:modified xsi:type="dcterms:W3CDTF">2026-05-26T18:39:50Z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8A61070D37D1AC837CF3146A0728172F_41</vt:lpwstr>
  </property>
  <property fmtid="{D5CDD505-2E9C-101B-9397-08002B2CF9AE}" pid="3" name="KSOProductBuildVer">
    <vt:lpwstr>1033-12.1.23155.23155</vt:lpwstr>
  </property>
</Properties>
</file>